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1119" r:id="rId2"/>
    <p:sldId id="1497" r:id="rId3"/>
    <p:sldId id="1501" r:id="rId4"/>
    <p:sldId id="1503" r:id="rId5"/>
    <p:sldId id="1499" r:id="rId6"/>
    <p:sldId id="1500" r:id="rId7"/>
    <p:sldId id="30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66FFFF"/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300218" y="982495"/>
            <a:ext cx="5596710" cy="5920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2667" b="1" kern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Project Title : AI Powered Resume Screening System</a:t>
            </a: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67" b="1" kern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Name: Himanshu Srivastava</a:t>
            </a: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67" b="1" kern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Date: 02-06-2026</a:t>
            </a: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1AD340-435C-5C22-B0B4-A7D095359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77" y="1206230"/>
            <a:ext cx="12094723" cy="4772815"/>
          </a:xfrm>
        </p:spPr>
        <p:txBody>
          <a:bodyPr/>
          <a:lstStyle/>
          <a:p>
            <a:pPr marL="186262" indent="0">
              <a:buNone/>
            </a:pPr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762BA-A92D-7E04-9CF4-5F36ECC1D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002060"/>
                </a:solidFill>
              </a:rPr>
              <a:t>PROBLEM STATEMENT</a:t>
            </a:r>
            <a:endParaRPr lang="en-IN">
              <a:solidFill>
                <a:srgbClr val="00206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231974-1D28-F579-AC06-0A502170C919}"/>
              </a:ext>
            </a:extLst>
          </p:cNvPr>
          <p:cNvSpPr/>
          <p:nvPr/>
        </p:nvSpPr>
        <p:spPr>
          <a:xfrm>
            <a:off x="403197" y="1488332"/>
            <a:ext cx="3225220" cy="3482502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/>
              <a:t>⚠️ </a:t>
            </a:r>
            <a:r>
              <a:rPr lang="en-US" sz="2400" b="1">
                <a:solidFill>
                  <a:schemeClr val="tx1"/>
                </a:solidFill>
              </a:rPr>
              <a:t>PROBLEM</a:t>
            </a: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Large volume of resumes received for each job opening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Manual resume screening is time-consuming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Difficult to compare candidates consistently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High recruiter workload</a:t>
            </a:r>
            <a:endParaRPr lang="en-IN" sz="1600" b="1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777C5D-9262-2003-508B-FEB5B43DA0DD}"/>
              </a:ext>
            </a:extLst>
          </p:cNvPr>
          <p:cNvSpPr/>
          <p:nvPr/>
        </p:nvSpPr>
        <p:spPr>
          <a:xfrm>
            <a:off x="4377447" y="1488333"/>
            <a:ext cx="3608962" cy="3482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/>
              <a:t>📉 </a:t>
            </a:r>
            <a:r>
              <a:rPr lang="en-US" sz="2400" b="1">
                <a:solidFill>
                  <a:schemeClr val="tx1"/>
                </a:solidFill>
              </a:rPr>
              <a:t>BUSINESS IMPACT</a:t>
            </a:r>
          </a:p>
          <a:p>
            <a:pPr algn="ctr"/>
            <a:endParaRPr lang="en-US" sz="2400" b="1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Delayed hiring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Increased recruitment costs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Risk of overlooking qualified candidates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Inconsistent candidate evaluation</a:t>
            </a:r>
            <a:endParaRPr lang="en-IN" sz="1600" b="1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8DCAF86-2109-039F-B79A-2E2D80EDE975}"/>
              </a:ext>
            </a:extLst>
          </p:cNvPr>
          <p:cNvSpPr/>
          <p:nvPr/>
        </p:nvSpPr>
        <p:spPr>
          <a:xfrm>
            <a:off x="8542006" y="1488332"/>
            <a:ext cx="3267373" cy="3482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/>
              <a:t>🤖 </a:t>
            </a:r>
            <a:r>
              <a:rPr lang="en-US" sz="2400" b="1">
                <a:solidFill>
                  <a:schemeClr val="tx1"/>
                </a:solidFill>
              </a:rPr>
              <a:t>SOLUTION</a:t>
            </a:r>
          </a:p>
          <a:p>
            <a:pPr algn="ctr"/>
            <a:endParaRPr lang="en-US" sz="2400" b="1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AI-powered resume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Automated JD matching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Candidate scoring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Intelligent shortlisting recommendations</a:t>
            </a:r>
            <a:endParaRPr lang="en-IN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99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D3F660-6314-BE74-DDD8-46D939E0F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94" y="1303506"/>
            <a:ext cx="11887200" cy="4675539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12AC3A-09F4-1D8D-0E86-3175D19D1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002060"/>
                </a:solidFill>
              </a:rPr>
              <a:t>PROJECT OVERVIEW</a:t>
            </a:r>
            <a:endParaRPr lang="en-IN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0FD4B-9764-976C-5BD0-54D4BCE3A9B0}"/>
              </a:ext>
            </a:extLst>
          </p:cNvPr>
          <p:cNvSpPr/>
          <p:nvPr/>
        </p:nvSpPr>
        <p:spPr>
          <a:xfrm>
            <a:off x="564204" y="1439694"/>
            <a:ext cx="10642060" cy="7101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>
              <a:solidFill>
                <a:schemeClr val="tx1"/>
              </a:solidFill>
            </a:endParaRPr>
          </a:p>
          <a:p>
            <a:r>
              <a:rPr lang="en-IN" b="1">
                <a:solidFill>
                  <a:schemeClr val="tx1"/>
                </a:solidFill>
              </a:rPr>
              <a:t>What is it?</a:t>
            </a:r>
          </a:p>
          <a:p>
            <a:r>
              <a:rPr lang="en-IN">
                <a:solidFill>
                  <a:schemeClr val="tx1"/>
                </a:solidFill>
              </a:rPr>
              <a:t>An AI-powered recruitment assistant that automates resume screening and candidate shortlisting.</a:t>
            </a:r>
          </a:p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C0BDC0-8F9A-A55C-DEA0-80A33E5FBCB2}"/>
              </a:ext>
            </a:extLst>
          </p:cNvPr>
          <p:cNvSpPr/>
          <p:nvPr/>
        </p:nvSpPr>
        <p:spPr>
          <a:xfrm>
            <a:off x="778214" y="2363821"/>
            <a:ext cx="3920246" cy="36152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>
              <a:solidFill>
                <a:schemeClr val="tx1"/>
              </a:solidFill>
            </a:endParaRPr>
          </a:p>
          <a:p>
            <a:r>
              <a:rPr lang="en-IN" b="1">
                <a:solidFill>
                  <a:schemeClr val="tx1"/>
                </a:solidFill>
              </a:rPr>
              <a:t>Key Capabilities:</a:t>
            </a:r>
          </a:p>
          <a:p>
            <a:endParaRPr lang="en-I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Extracts candidate information from resumes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Compares resumes against Job Descriptions (JD)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Generates candidate scores using AI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Ranks candidates based on suitability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Creates shortlist recommendations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</a:rPr>
              <a:t>Reduces manual screening effort </a:t>
            </a:r>
          </a:p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EA390F-020C-C1F2-F2F1-074A73535033}"/>
              </a:ext>
            </a:extLst>
          </p:cNvPr>
          <p:cNvSpPr/>
          <p:nvPr/>
        </p:nvSpPr>
        <p:spPr>
          <a:xfrm>
            <a:off x="5856051" y="2509736"/>
            <a:ext cx="4786009" cy="32976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In Brief: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r>
              <a:rPr lang="en-US" sz="1600" b="1">
                <a:solidFill>
                  <a:schemeClr val="tx1"/>
                </a:solidFill>
              </a:rPr>
              <a:t>Trigger</a:t>
            </a:r>
            <a:r>
              <a:rPr lang="en-US" sz="1600">
                <a:solidFill>
                  <a:schemeClr val="tx1"/>
                </a:solidFill>
              </a:rPr>
              <a:t> :  </a:t>
            </a:r>
            <a:r>
              <a:rPr lang="en-IN" sz="1600">
                <a:solidFill>
                  <a:schemeClr val="tx1"/>
                </a:solidFill>
              </a:rPr>
              <a:t>Resume Upload (PDF/DOC)</a:t>
            </a:r>
          </a:p>
          <a:p>
            <a:r>
              <a:rPr lang="en-IN" sz="1600" b="1">
                <a:solidFill>
                  <a:schemeClr val="tx1"/>
                </a:solidFill>
              </a:rPr>
              <a:t>AI Engine </a:t>
            </a:r>
            <a:r>
              <a:rPr lang="en-IN" sz="1600">
                <a:solidFill>
                  <a:schemeClr val="tx1"/>
                </a:solidFill>
              </a:rPr>
              <a:t>:  Gemini/Open AI</a:t>
            </a:r>
          </a:p>
          <a:p>
            <a:r>
              <a:rPr lang="en-IN" sz="1600" b="1">
                <a:solidFill>
                  <a:schemeClr val="tx1"/>
                </a:solidFill>
              </a:rPr>
              <a:t>Workflow</a:t>
            </a:r>
            <a:r>
              <a:rPr lang="en-IN" sz="1600">
                <a:solidFill>
                  <a:schemeClr val="tx1"/>
                </a:solidFill>
              </a:rPr>
              <a:t> : n8n No-Code Pipeline</a:t>
            </a:r>
          </a:p>
          <a:p>
            <a:r>
              <a:rPr lang="en-IN" sz="1600" b="1">
                <a:solidFill>
                  <a:schemeClr val="tx1"/>
                </a:solidFill>
              </a:rPr>
              <a:t>Input</a:t>
            </a:r>
            <a:r>
              <a:rPr lang="en-IN" sz="1600">
                <a:solidFill>
                  <a:schemeClr val="tx1"/>
                </a:solidFill>
              </a:rPr>
              <a:t> : Resume + Job Description</a:t>
            </a:r>
          </a:p>
          <a:p>
            <a:r>
              <a:rPr lang="en-IN" sz="1600" b="1">
                <a:solidFill>
                  <a:schemeClr val="tx1"/>
                </a:solidFill>
              </a:rPr>
              <a:t>Output </a:t>
            </a:r>
            <a:r>
              <a:rPr lang="en-IN" sz="1600">
                <a:solidFill>
                  <a:schemeClr val="tx1"/>
                </a:solidFill>
              </a:rPr>
              <a:t>: Candidate Score &amp; Shortlisting</a:t>
            </a:r>
          </a:p>
          <a:p>
            <a:r>
              <a:rPr lang="en-IN" sz="1600" b="1">
                <a:solidFill>
                  <a:schemeClr val="tx1"/>
                </a:solidFill>
              </a:rPr>
              <a:t>Notification</a:t>
            </a:r>
            <a:r>
              <a:rPr lang="en-IN" sz="1600">
                <a:solidFill>
                  <a:schemeClr val="tx1"/>
                </a:solidFill>
              </a:rPr>
              <a:t> : Email Assessment Report</a:t>
            </a:r>
          </a:p>
        </p:txBody>
      </p:sp>
    </p:spTree>
    <p:extLst>
      <p:ext uri="{BB962C8B-B14F-4D97-AF65-F5344CB8AC3E}">
        <p14:creationId xmlns:p14="http://schemas.microsoft.com/office/powerpoint/2010/main" val="99247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D03AFD-A68A-D0D2-52B7-4A0892B3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825" y="1352146"/>
            <a:ext cx="11838561" cy="4626900"/>
          </a:xfrm>
        </p:spPr>
        <p:txBody>
          <a:bodyPr/>
          <a:lstStyle/>
          <a:p>
            <a:pPr marL="186262" indent="0">
              <a:buNone/>
            </a:pPr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2ED70-8B9D-BCB9-D827-4362AC54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002060"/>
                </a:solidFill>
              </a:rPr>
              <a:t>S</a:t>
            </a:r>
            <a:r>
              <a:rPr lang="en-IN">
                <a:solidFill>
                  <a:srgbClr val="002060"/>
                </a:solidFill>
              </a:rPr>
              <a:t>OLUTION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9F67A-073C-3BBA-C467-6B51A15D8059}"/>
              </a:ext>
            </a:extLst>
          </p:cNvPr>
          <p:cNvSpPr txBox="1"/>
          <p:nvPr/>
        </p:nvSpPr>
        <p:spPr>
          <a:xfrm>
            <a:off x="301557" y="1352146"/>
            <a:ext cx="3711602" cy="477053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b="1"/>
              <a:t>👤 Candidate</a:t>
            </a:r>
          </a:p>
          <a:p>
            <a:r>
              <a:rPr lang="en-IN" sz="1600" b="1"/>
              <a:t>              ↓</a:t>
            </a:r>
          </a:p>
          <a:p>
            <a:r>
              <a:rPr lang="en-IN" sz="1600" b="1"/>
              <a:t>🌐 Resume Submission Form</a:t>
            </a:r>
          </a:p>
          <a:p>
            <a:r>
              <a:rPr lang="en-IN" sz="1600" b="1"/>
              <a:t>              ↓</a:t>
            </a:r>
          </a:p>
          <a:p>
            <a:r>
              <a:rPr lang="en-IN" sz="1600" b="1"/>
              <a:t>☁️ n8n Cloud Workflow</a:t>
            </a:r>
          </a:p>
          <a:p>
            <a:r>
              <a:rPr lang="en-IN" sz="1600" b="1"/>
              <a:t>              ↓</a:t>
            </a:r>
          </a:p>
          <a:p>
            <a:r>
              <a:rPr lang="en-IN" sz="1600" b="1"/>
              <a:t>📄 Resume PDF Extraction</a:t>
            </a:r>
          </a:p>
          <a:p>
            <a:r>
              <a:rPr lang="en-IN" sz="1600" b="1"/>
              <a:t>              ↓</a:t>
            </a:r>
          </a:p>
          <a:p>
            <a:r>
              <a:rPr lang="en-IN" sz="1600" b="1"/>
              <a:t>🤖 Resume Evaluation Agent</a:t>
            </a:r>
          </a:p>
          <a:p>
            <a:r>
              <a:rPr lang="en-IN" sz="1600" b="1"/>
              <a:t>              ↓</a:t>
            </a:r>
          </a:p>
          <a:p>
            <a:r>
              <a:rPr lang="en-IN" sz="1600" b="1"/>
              <a:t>🧠 Candidate Scoring Agent</a:t>
            </a:r>
          </a:p>
          <a:p>
            <a:r>
              <a:rPr lang="en-IN" sz="1600" b="1"/>
              <a:t>              ↓</a:t>
            </a:r>
          </a:p>
          <a:p>
            <a:r>
              <a:rPr lang="en-IN" sz="1600" b="1"/>
              <a:t>📊 Google Sheets</a:t>
            </a:r>
          </a:p>
          <a:p>
            <a:r>
              <a:rPr lang="en-IN" sz="1600" b="1"/>
              <a:t>              ↓</a:t>
            </a:r>
          </a:p>
          <a:p>
            <a:r>
              <a:rPr lang="en-IN" sz="1600" b="1"/>
              <a:t>🚦 IF Condiditon Node</a:t>
            </a:r>
          </a:p>
          <a:p>
            <a:r>
              <a:rPr lang="en-IN" sz="1600" b="1"/>
              <a:t>              ↓</a:t>
            </a:r>
          </a:p>
          <a:p>
            <a:r>
              <a:rPr lang="en-IN" sz="1600" b="1"/>
              <a:t>📧 Email Notification</a:t>
            </a:r>
          </a:p>
          <a:p>
            <a:r>
              <a:rPr lang="en-IN" sz="1600" b="1"/>
              <a:t>              ↓</a:t>
            </a:r>
          </a:p>
          <a:p>
            <a:r>
              <a:rPr lang="en-IN" sz="1600" b="1"/>
              <a:t>📅 Interview Scheduling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07A02-B240-E137-CBF0-474E5C69E385}"/>
              </a:ext>
            </a:extLst>
          </p:cNvPr>
          <p:cNvSpPr txBox="1"/>
          <p:nvPr/>
        </p:nvSpPr>
        <p:spPr>
          <a:xfrm>
            <a:off x="4782268" y="2095935"/>
            <a:ext cx="6793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Workflow Overview</a:t>
            </a:r>
          </a:p>
          <a:p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Candidates submit resumes through a public web form.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Resume content is extracted and processed automatically.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AI agents evaluate candidate qualifications and calculate a match score.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Results are stored in Google Sheets for tracking and reporting.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Qualified candidates automatically receive interview invitations and scheduling links.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18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BE92ED-8A7F-A392-5358-D978292C9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009" y="1225685"/>
            <a:ext cx="11809378" cy="4753360"/>
          </a:xfrm>
        </p:spPr>
        <p:txBody>
          <a:bodyPr/>
          <a:lstStyle/>
          <a:p>
            <a:pPr marL="186262" indent="0">
              <a:buNone/>
            </a:pPr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92E291-50A8-A864-5DB6-54A83935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002060"/>
                </a:solidFill>
              </a:rPr>
              <a:t>TARGET AUDIENCE</a:t>
            </a:r>
            <a:endParaRPr lang="en-IN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396A06-78F5-37A6-F20D-0FFE4FB94CC4}"/>
              </a:ext>
            </a:extLst>
          </p:cNvPr>
          <p:cNvSpPr/>
          <p:nvPr/>
        </p:nvSpPr>
        <p:spPr>
          <a:xfrm>
            <a:off x="403197" y="1437425"/>
            <a:ext cx="4610911" cy="18725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/>
              <a:t>👨‍💼 Recruiters</a:t>
            </a:r>
          </a:p>
          <a:p>
            <a:endParaRPr lang="en-I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Screen large volumes of resumes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Create initial candidate shortlist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Reduce manual screening effort</a:t>
            </a:r>
          </a:p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2DB8D-991A-5D74-E90B-FEF276679F1D}"/>
              </a:ext>
            </a:extLst>
          </p:cNvPr>
          <p:cNvSpPr/>
          <p:nvPr/>
        </p:nvSpPr>
        <p:spPr>
          <a:xfrm>
            <a:off x="5856051" y="1437425"/>
            <a:ext cx="4931923" cy="18725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🏢 </a:t>
            </a:r>
            <a:r>
              <a:rPr lang="en-IN" b="1">
                <a:solidFill>
                  <a:schemeClr val="tx1"/>
                </a:solidFill>
              </a:rPr>
              <a:t>HR Teams</a:t>
            </a:r>
          </a:p>
          <a:p>
            <a:endParaRPr lang="en-IN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Standardize candidate evaluation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Improve hiring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Accelerate recruitment process </a:t>
            </a:r>
          </a:p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6BE93-5EFF-0A97-1157-DE9DEB38B35E}"/>
              </a:ext>
            </a:extLst>
          </p:cNvPr>
          <p:cNvSpPr/>
          <p:nvPr/>
        </p:nvSpPr>
        <p:spPr>
          <a:xfrm>
            <a:off x="403197" y="3608962"/>
            <a:ext cx="4610911" cy="19552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📋 </a:t>
            </a:r>
            <a:r>
              <a:rPr lang="en-IN" b="1">
                <a:solidFill>
                  <a:schemeClr val="tx1"/>
                </a:solidFill>
              </a:rPr>
              <a:t>Hiring Managers</a:t>
            </a:r>
          </a:p>
          <a:p>
            <a:endParaRPr lang="en-IN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Review ranked candidates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Identify best-fit applicants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Make informed hiring decisions</a:t>
            </a:r>
          </a:p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B6FE36-632B-3684-43D9-E8EC1B1F6726}"/>
              </a:ext>
            </a:extLst>
          </p:cNvPr>
          <p:cNvSpPr/>
          <p:nvPr/>
        </p:nvSpPr>
        <p:spPr>
          <a:xfrm>
            <a:off x="5856051" y="3608962"/>
            <a:ext cx="4931923" cy="19552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🤝 </a:t>
            </a:r>
            <a:r>
              <a:rPr lang="en-IN" b="1">
                <a:solidFill>
                  <a:schemeClr val="tx1"/>
                </a:solidFill>
              </a:rPr>
              <a:t>Staffing Agencies</a:t>
            </a:r>
          </a:p>
          <a:p>
            <a:endParaRPr lang="en-IN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Process multiple candidate profiles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Match candidates to client requirements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Improve placement success rate</a:t>
            </a:r>
          </a:p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641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C44BB5-9EF0-6073-6E67-2979B0EF2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190" y="1293780"/>
            <a:ext cx="11948809" cy="4685266"/>
          </a:xfrm>
        </p:spPr>
        <p:txBody>
          <a:bodyPr/>
          <a:lstStyle/>
          <a:p>
            <a:endParaRPr lang="en-IN"/>
          </a:p>
          <a:p>
            <a:r>
              <a:rPr lang="en-IN" sz="2000"/>
              <a:t> Automates resume screening and candidate evaluation. </a:t>
            </a:r>
          </a:p>
          <a:p>
            <a:r>
              <a:rPr lang="en-IN" sz="2000"/>
              <a:t> Reduces manual effort for recruiters and HR teams.</a:t>
            </a:r>
          </a:p>
          <a:p>
            <a:r>
              <a:rPr lang="en-IN" sz="2000"/>
              <a:t> Matches candidate skills and experience against job requirements. </a:t>
            </a:r>
          </a:p>
          <a:p>
            <a:r>
              <a:rPr lang="en-IN" sz="2000"/>
              <a:t> Generates objective candidate scores.</a:t>
            </a:r>
          </a:p>
          <a:p>
            <a:r>
              <a:rPr lang="en-IN" sz="2000"/>
              <a:t> Standardizes candidate evaluation across all applicants</a:t>
            </a:r>
          </a:p>
          <a:p>
            <a:r>
              <a:rPr lang="en-IN" sz="2000"/>
              <a:t> Accelerates shortlisting and hiring decisions.</a:t>
            </a:r>
          </a:p>
          <a:p>
            <a:r>
              <a:rPr lang="en-IN" sz="2000"/>
              <a:t> Improves hiring efficiency and recruitment productivity.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2F255E-2DE4-6231-7584-8DA9149B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002060"/>
                </a:solidFill>
              </a:rPr>
              <a:t>BUSINESS VALUE</a:t>
            </a:r>
            <a:endParaRPr lang="en-IN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3B435-2BFC-E065-1A63-369EF1C93EB2}"/>
              </a:ext>
            </a:extLst>
          </p:cNvPr>
          <p:cNvSpPr txBox="1"/>
          <p:nvPr/>
        </p:nvSpPr>
        <p:spPr>
          <a:xfrm>
            <a:off x="403197" y="4893012"/>
            <a:ext cx="10009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🎯 </a:t>
            </a:r>
            <a:r>
              <a:rPr lang="en-IN" b="1"/>
              <a:t>Outcome:</a:t>
            </a:r>
            <a:r>
              <a:rPr lang="en-IN"/>
              <a:t> Faster hiring, better candidate selection, and a standardized recruitment process.</a:t>
            </a:r>
          </a:p>
        </p:txBody>
      </p:sp>
    </p:spTree>
    <p:extLst>
      <p:ext uri="{BB962C8B-B14F-4D97-AF65-F5344CB8AC3E}">
        <p14:creationId xmlns:p14="http://schemas.microsoft.com/office/powerpoint/2010/main" val="202277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 fontScale="92500" lnSpcReduction="10000"/>
          </a:bodyPr>
          <a:lstStyle/>
          <a:p>
            <a:pPr marL="609585" indent="-457189"/>
            <a:r>
              <a:rPr lang="en-US" sz="64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23266</TotalTime>
  <Words>405</Words>
  <Application>Microsoft Office PowerPoint</Application>
  <PresentationFormat>Widescreen</PresentationFormat>
  <Paragraphs>112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Open Sans</vt:lpstr>
      <vt:lpstr>PT Sans Narrow</vt:lpstr>
      <vt:lpstr>Raleway</vt:lpstr>
      <vt:lpstr>Tropic</vt:lpstr>
      <vt:lpstr>PowerPoint Presentation</vt:lpstr>
      <vt:lpstr>PROBLEM STATEMENT</vt:lpstr>
      <vt:lpstr>PROJECT OVERVIEW</vt:lpstr>
      <vt:lpstr>SOLUTION ARCHITECTURE</vt:lpstr>
      <vt:lpstr>TARGET AUDIENCE</vt:lpstr>
      <vt:lpstr>BUSINESS VALUE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Priyanshu Srivastava</cp:lastModifiedBy>
  <cp:revision>98</cp:revision>
  <dcterms:created xsi:type="dcterms:W3CDTF">2025-04-04T02:52:34Z</dcterms:created>
  <dcterms:modified xsi:type="dcterms:W3CDTF">2026-06-08T18:16:24Z</dcterms:modified>
</cp:coreProperties>
</file>